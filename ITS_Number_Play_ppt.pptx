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58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D3A8C">
              <a:alpha val="50000"/>
            </a:srgbClr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4B5CC4">
              <a:alpha val="40000"/>
            </a:srgbClr>
          </a:solidFill>
          <a:ln w="12700">
            <a:solidFill>
              <a:srgbClr val="4B5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82880" cy="182880"/>
          </a:xfrm>
          <a:prstGeom prst="ellipse">
            <a:avLst/>
          </a:prstGeom>
          <a:solidFill>
            <a:srgbClr val="4B5C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82880" cy="182880"/>
          </a:xfrm>
          <a:prstGeom prst="ellipse">
            <a:avLst/>
          </a:prstGeom>
          <a:solidFill>
            <a:srgbClr val="4B5C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80160" y="420624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0" y="4206240"/>
            <a:ext cx="182880" cy="182880"/>
          </a:xfrm>
          <a:prstGeom prst="ellipse">
            <a:avLst/>
          </a:prstGeom>
          <a:solidFill>
            <a:srgbClr val="4B5C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0" y="4206240"/>
            <a:ext cx="182880" cy="182880"/>
          </a:xfrm>
          <a:prstGeom prst="ellipse">
            <a:avLst/>
          </a:prstGeom>
          <a:solidFill>
            <a:srgbClr val="4B5C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AC85A"/>
                </a:solidFill>
              </a:rPr>
              <a:t>INTELLIGENT TUTORING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1430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</a:rPr>
              <a:t>Number Play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2330824"/>
            <a:ext cx="6858000" cy="86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BBD6"/>
                </a:solidFill>
              </a:rPr>
              <a:t>Adaptive learning through Domain, Learner &amp; Pedagogical Models</a:t>
            </a:r>
            <a:br>
              <a:rPr lang="en-US" sz="1600" i="1" dirty="0">
                <a:solidFill>
                  <a:srgbClr val="AABBD6"/>
                </a:solidFill>
              </a:rPr>
            </a:br>
            <a:br>
              <a:rPr lang="en-US" sz="1600" i="1" dirty="0">
                <a:solidFill>
                  <a:srgbClr val="AABBD6"/>
                </a:solidFill>
              </a:rPr>
            </a:br>
            <a:r>
              <a:rPr lang="en-US" sz="1600" i="1" dirty="0">
                <a:solidFill>
                  <a:srgbClr val="AABBD6"/>
                </a:solidFill>
              </a:rPr>
              <a:t>By  Anika Sahoo (23b4227), Harshil Singla (22b1260), Rahul Gupta (22b0439)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2468880" cy="475488"/>
          </a:xfrm>
          <a:prstGeom prst="rect">
            <a:avLst/>
          </a:prstGeom>
          <a:solidFill>
            <a:srgbClr val="4B5CC4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Domain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74720"/>
            <a:ext cx="246888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34747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Learner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474720"/>
            <a:ext cx="2468880" cy="475488"/>
          </a:xfrm>
          <a:prstGeom prst="rect">
            <a:avLst/>
          </a:prstGeom>
          <a:solidFill>
            <a:srgbClr val="4B5CC4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34747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Pedagogical Model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LEARNING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After completing this module, learners will be able to: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0292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Recognize number patterns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496312"/>
            <a:ext cx="50292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4963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963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Identify odd &amp; even numbers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00984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50292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3009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30098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Apply divisibility rules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50292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16916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1691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Solve number sequences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49631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496312"/>
            <a:ext cx="502920" cy="65836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4963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24963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Solve logical number puzzles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310128"/>
            <a:ext cx="3931920" cy="13258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3310128"/>
            <a:ext cx="393192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3440" y="3310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4E"/>
                </a:solidFill>
              </a:rPr>
              <a:t>SKILLS DEVELOPED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703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C85A"/>
                </a:solidFill>
              </a:rPr>
              <a:t>Numerical Reasoning  •  Logical Thinking  •  Mental Calculation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DOMAIN MODULE  —  Learning Content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</a:rPr>
              <a:t>Number Patterns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72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Sequences with constant or growing gaps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3931920" cy="621792"/>
          </a:xfrm>
          <a:prstGeom prst="rect">
            <a:avLst/>
          </a:prstGeom>
          <a:solidFill>
            <a:srgbClr val="EEED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</a:rPr>
              <a:t>Odd &amp; Even Numbers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Classification by divisibility by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670048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67004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</a:rPr>
              <a:t>Divisibility Rules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Digit-sum tests for 2, 3, 5, 9, 10…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19856"/>
            <a:ext cx="3931920" cy="621792"/>
          </a:xfrm>
          <a:prstGeom prst="rect">
            <a:avLst/>
          </a:prstGeom>
          <a:solidFill>
            <a:srgbClr val="EEED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419856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41985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</a:rPr>
              <a:t>Number Sequences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Arithmetic, geometric &amp; special series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6966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169664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16966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</a:rPr>
              <a:t>Logical Puzzles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471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Reasoning with numeric constraints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17043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1170432"/>
            <a:ext cx="4206240" cy="329184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11704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PATTERN EXAMPLE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15727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4E"/>
                </a:solidFill>
              </a:rPr>
              <a:t>2,  4,  6,  8,  ___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6344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</a:rPr>
              <a:t>Rule: +2   →   Answer: 10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30632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3063240"/>
            <a:ext cx="4206240" cy="329184"/>
          </a:xfrm>
          <a:prstGeom prst="rect">
            <a:avLst/>
          </a:prstGeom>
          <a:solidFill>
            <a:srgbClr val="4B5CC4"/>
          </a:solidFill>
          <a:ln w="12700">
            <a:solidFill>
              <a:srgbClr val="4B5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30632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DIVISIBILITY EXAMPLE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4655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4E"/>
                </a:solidFill>
              </a:rPr>
              <a:t>Is 135 divisible by 3?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37856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A8C"/>
                </a:solidFill>
              </a:rPr>
              <a:t>1 + 3 + 5 = 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63440" y="40782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</a:rPr>
              <a:t>9 ÷ 3 = 3  →  Yes ✓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HINT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59436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Question:   2,  6,  12,  20,  ___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137160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Hint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395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After attempt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0" y="1920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Look at the difference between consecutive numbers.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137160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9077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Hint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383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After attempt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28800" y="290779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Notice the differences are increasing by a constant amount.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895344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895344"/>
            <a:ext cx="137160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8953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Hint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4370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After attempt 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28800" y="389534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Try writing each number as a product of two consecutive integers: 2=1×2, 6=2×3 …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3A8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Bar"/>
          <p:cNvSpPr/>
          <p:nvPr/>
        </p:nvSpPr>
        <p:spPr>
          <a:xfrm>
            <a:off x="0" y="960120"/>
            <a:ext cx="9144000" cy="576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SCORE CALCULATION  —  Behavioural Performance Model</a:t>
            </a:r>
          </a:p>
        </p:txBody>
      </p:sp>
      <p:sp>
        <p:nvSpPr>
          <p:cNvPr id="5" name="Formula Box"/>
          <p:cNvSpPr/>
          <p:nvPr/>
        </p:nvSpPr>
        <p:spPr>
          <a:xfrm>
            <a:off x="365760" y="1060000"/>
            <a:ext cx="8412480" cy="390000"/>
          </a:xfrm>
          <a:prstGeom prst="rect">
            <a:avLst/>
          </a:prstGeom>
          <a:solidFill>
            <a:srgbClr val="2D3A8C"/>
          </a:solidFill>
          <a:ln w="19050">
            <a:solidFill>
              <a:srgbClr val="F5A623"/>
            </a:solidFill>
          </a:ln>
        </p:spPr>
        <p:txBody>
          <a:bodyPr lIns="180000" rIns="18000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onsolas"/>
              </a:rPr>
              <a:t>PersonalizedScore  =  BaseScore  ×  </a:t>
            </a:r>
            <a:r>
              <a:rPr lang="en-US" sz="1800" b="1" dirty="0">
                <a:solidFill>
                  <a:srgbClr val="4FC3F7"/>
                </a:solidFill>
                <a:latin typeface="Consolas"/>
              </a:rPr>
              <a:t>HintFactor</a:t>
            </a:r>
            <a:r>
              <a:rPr lang="en-US" sz="1800" b="1" dirty="0">
                <a:solidFill>
                  <a:srgbClr val="FFFFFF"/>
                </a:solidFill>
                <a:latin typeface="Consolas"/>
              </a:rPr>
              <a:t>  ×  </a:t>
            </a:r>
            <a:r>
              <a:rPr lang="en-US" sz="1800" b="1" dirty="0">
                <a:solidFill>
                  <a:srgbClr val="A5D6A7"/>
                </a:solidFill>
                <a:latin typeface="Consolas"/>
              </a:rPr>
              <a:t>TimeFactor</a:t>
            </a:r>
          </a:p>
        </p:txBody>
      </p:sp>
      <p:sp>
        <p:nvSpPr>
          <p:cNvPr id="6" name="Hint Card BG"/>
          <p:cNvSpPr/>
          <p:nvPr/>
        </p:nvSpPr>
        <p:spPr>
          <a:xfrm>
            <a:off x="365760" y="1530000"/>
            <a:ext cx="3900000" cy="240000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Hint Top"/>
          <p:cNvSpPr/>
          <p:nvPr/>
        </p:nvSpPr>
        <p:spPr>
          <a:xfrm>
            <a:off x="365760" y="1530000"/>
            <a:ext cx="3900000" cy="90000"/>
          </a:xfrm>
          <a:prstGeom prst="rect">
            <a:avLst/>
          </a:prstGeom>
          <a:solidFill>
            <a:srgbClr val="4FC3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Hint Card Text"/>
          <p:cNvSpPr/>
          <p:nvPr/>
        </p:nvSpPr>
        <p:spPr>
          <a:xfrm>
            <a:off x="415760" y="1640000"/>
            <a:ext cx="3800000" cy="2250000"/>
          </a:xfrm>
          <a:prstGeom prst="rect">
            <a:avLst/>
          </a:prstGeom>
          <a:noFill/>
        </p:spPr>
        <p:txBody>
          <a:bodyPr lIns="91440" rIns="91440" anchor="t"/>
          <a:lstStyle/>
          <a:p>
            <a:pPr algn="ctr">
              <a:spcBef>
                <a:spcPts val="0"/>
              </a:spcBef>
            </a:pPr>
            <a:r>
              <a:rPr lang="en-US" sz="1400" b="1" dirty="0">
                <a:solidFill>
                  <a:srgbClr val="4FC3F7"/>
                </a:solidFill>
                <a:latin typeface="Calibri"/>
              </a:rPr>
              <a:t>HINT FACTOR</a:t>
            </a:r>
          </a:p>
          <a:p>
            <a:pPr algn="l">
              <a:spcBef>
                <a:spcPts val="300"/>
              </a:spcBef>
            </a:pPr>
            <a:r>
              <a:rPr lang="en-US" sz="1000" b="1" dirty="0">
                <a:solidFill>
                  <a:srgbClr val="B0BEC5"/>
                </a:solidFill>
                <a:latin typeface="Calibri"/>
              </a:rPr>
              <a:t>Hints Used          Factor</a:t>
            </a:r>
          </a:p>
          <a:p>
            <a:pPr algn="l">
              <a:spcBef>
                <a:spcPts val="200"/>
              </a:spcBef>
            </a:pPr>
            <a:r>
              <a:rPr lang="en-US" sz="1100" b="1" dirty="0">
                <a:solidFill>
                  <a:srgbClr val="A5D6A7"/>
                </a:solidFill>
                <a:latin typeface="Consolas"/>
              </a:rPr>
              <a:t>0                   1.00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1                   0.90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2                   0.80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3                   0.70</a:t>
            </a:r>
          </a:p>
          <a:p>
            <a:pPr algn="l">
              <a:spcBef>
                <a:spcPts val="300"/>
              </a:spcBef>
            </a:pPr>
            <a:r>
              <a:rPr lang="en-US" sz="900" i="1" dirty="0">
                <a:solidFill>
                  <a:srgbClr val="B0BEC5"/>
                </a:solidFill>
                <a:latin typeface="Calibri"/>
              </a:rPr>
              <a:t>Measures learner independence</a:t>
            </a:r>
          </a:p>
        </p:txBody>
      </p:sp>
      <p:sp>
        <p:nvSpPr>
          <p:cNvPr id="9" name="Time Card BG"/>
          <p:cNvSpPr/>
          <p:nvPr/>
        </p:nvSpPr>
        <p:spPr>
          <a:xfrm>
            <a:off x="4444240" y="1530000"/>
            <a:ext cx="4333520" cy="2400000"/>
          </a:xfrm>
          <a:prstGeom prst="rect">
            <a:avLst/>
          </a:prstGeom>
          <a:solidFill>
            <a:srgbClr val="1E2761"/>
          </a:solidFill>
          <a:ln w="19050">
            <a:solidFill>
              <a:srgbClr val="A5D6A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ime Top"/>
          <p:cNvSpPr/>
          <p:nvPr/>
        </p:nvSpPr>
        <p:spPr>
          <a:xfrm>
            <a:off x="4444240" y="1530000"/>
            <a:ext cx="4333520" cy="90000"/>
          </a:xfrm>
          <a:prstGeom prst="rect">
            <a:avLst/>
          </a:prstGeom>
          <a:solidFill>
            <a:srgbClr val="A5D6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ime Card Text"/>
          <p:cNvSpPr/>
          <p:nvPr/>
        </p:nvSpPr>
        <p:spPr>
          <a:xfrm>
            <a:off x="4494240" y="1640000"/>
            <a:ext cx="4233520" cy="2250000"/>
          </a:xfrm>
          <a:prstGeom prst="rect">
            <a:avLst/>
          </a:prstGeom>
          <a:noFill/>
        </p:spPr>
        <p:txBody>
          <a:bodyPr lIns="91440" rIns="91440" anchor="t"/>
          <a:lstStyle/>
          <a:p>
            <a:pPr algn="ctr">
              <a:spcBef>
                <a:spcPts val="0"/>
              </a:spcBef>
            </a:pPr>
            <a:r>
              <a:rPr lang="en-US" sz="1400" b="1" dirty="0">
                <a:solidFill>
                  <a:srgbClr val="A5D6A7"/>
                </a:solidFill>
                <a:latin typeface="Calibri"/>
              </a:rPr>
              <a:t>TIME FACTOR  (expected = T)</a:t>
            </a:r>
          </a:p>
          <a:p>
            <a:pPr algn="l">
              <a:spcBef>
                <a:spcPts val="300"/>
              </a:spcBef>
            </a:pPr>
            <a:r>
              <a:rPr lang="en-US" sz="1000" b="1" dirty="0">
                <a:solidFill>
                  <a:srgbClr val="B0BEC5"/>
                </a:solidFill>
                <a:latin typeface="Calibri"/>
              </a:rPr>
              <a:t>Time Taken              Factor</a:t>
            </a:r>
          </a:p>
          <a:p>
            <a:pPr algn="l">
              <a:spcBef>
                <a:spcPts val="200"/>
              </a:spcBef>
            </a:pPr>
            <a:r>
              <a:rPr lang="en-US" sz="1100" b="1" dirty="0">
                <a:solidFill>
                  <a:srgbClr val="A5D6A7"/>
                </a:solidFill>
                <a:latin typeface="Consolas"/>
              </a:rPr>
              <a:t>≤ T                    1.00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≤ 1.5T                 0.90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≤ 2T                   0.80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&gt; 2T                   0.70</a:t>
            </a:r>
          </a:p>
          <a:p>
            <a:pPr algn="l">
              <a:spcBef>
                <a:spcPts val="300"/>
              </a:spcBef>
            </a:pPr>
            <a:r>
              <a:rPr lang="en-US" sz="900" i="1" dirty="0">
                <a:solidFill>
                  <a:srgbClr val="B0BEC5"/>
                </a:solidFill>
                <a:latin typeface="Calibri"/>
              </a:rPr>
              <a:t>Measures solving fluency</a:t>
            </a:r>
          </a:p>
        </p:txBody>
      </p:sp>
      <p:sp>
        <p:nvSpPr>
          <p:cNvPr id="12" name="Example BG"/>
          <p:cNvSpPr/>
          <p:nvPr/>
        </p:nvSpPr>
        <p:spPr>
          <a:xfrm>
            <a:off x="365760" y="4030000"/>
            <a:ext cx="3900000" cy="1020000"/>
          </a:xfrm>
          <a:prstGeom prst="rect">
            <a:avLst/>
          </a:prstGeom>
          <a:solidFill>
            <a:srgbClr val="1E2761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Example Top"/>
          <p:cNvSpPr/>
          <p:nvPr/>
        </p:nvSpPr>
        <p:spPr>
          <a:xfrm>
            <a:off x="365760" y="4030000"/>
            <a:ext cx="3900000" cy="900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Example Text"/>
          <p:cNvSpPr/>
          <p:nvPr/>
        </p:nvSpPr>
        <p:spPr>
          <a:xfrm>
            <a:off x="415760" y="4130000"/>
            <a:ext cx="3800000" cy="880000"/>
          </a:xfrm>
          <a:prstGeom prst="rect">
            <a:avLst/>
          </a:prstGeom>
          <a:noFill/>
        </p:spPr>
        <p:txBody>
          <a:bodyPr lIns="91440" rIns="91440" anchor="t"/>
          <a:lstStyle/>
          <a:p>
            <a:pPr algn="l">
              <a:spcBef>
                <a:spcPts val="0"/>
              </a:spcBef>
            </a:pPr>
            <a:r>
              <a:rPr lang="en-US" sz="1200" b="1" dirty="0">
                <a:solidFill>
                  <a:srgbClr val="F5A623"/>
                </a:solidFill>
                <a:latin typeface="Calibri"/>
              </a:rPr>
              <a:t>EXAMPLE</a:t>
            </a:r>
          </a:p>
          <a:p>
            <a:pPr algn="l">
              <a:spcBef>
                <a:spcPts val="150"/>
              </a:spcBef>
            </a:pPr>
            <a:r>
              <a:rPr lang="en-US" sz="1000" dirty="0">
                <a:solidFill>
                  <a:srgbClr val="B0BEC5"/>
                </a:solidFill>
                <a:latin typeface="Calibri"/>
              </a:rPr>
              <a:t>BaseScore=10  Hints=2  Time=90s  T=60s</a:t>
            </a:r>
          </a:p>
          <a:p>
            <a:pPr algn="l">
              <a:spcBef>
                <a:spcPts val="200"/>
              </a:spcBef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10 × 0.80 × 0.90 = </a:t>
            </a:r>
            <a:r>
              <a:rPr lang="en-US" sz="1200" b="1" dirty="0">
                <a:solidFill>
                  <a:srgbClr val="A5D6A7"/>
                </a:solidFill>
                <a:latin typeface="Consolas"/>
              </a:rPr>
              <a:t>7.20</a:t>
            </a:r>
          </a:p>
        </p:txBody>
      </p:sp>
      <p:sp>
        <p:nvSpPr>
          <p:cNvPr id="15" name="Behaviour BG"/>
          <p:cNvSpPr/>
          <p:nvPr/>
        </p:nvSpPr>
        <p:spPr>
          <a:xfrm>
            <a:off x="4444240" y="4030000"/>
            <a:ext cx="4333520" cy="1020000"/>
          </a:xfrm>
          <a:prstGeom prst="rect">
            <a:avLst/>
          </a:prstGeom>
          <a:solidFill>
            <a:srgbClr val="1E2761"/>
          </a:solidFill>
          <a:ln w="19050">
            <a:solidFill>
              <a:srgbClr val="2D3A8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Behaviour Text"/>
          <p:cNvSpPr/>
          <p:nvPr/>
        </p:nvSpPr>
        <p:spPr>
          <a:xfrm>
            <a:off x="4494240" y="4040000"/>
            <a:ext cx="4233520" cy="1000000"/>
          </a:xfrm>
          <a:prstGeom prst="rect">
            <a:avLst/>
          </a:prstGeom>
          <a:noFill/>
        </p:spPr>
        <p:txBody>
          <a:bodyPr lIns="91440" rIns="91440" anchor="t"/>
          <a:lstStyle/>
          <a:p>
            <a:pPr algn="l">
              <a:spcBef>
                <a:spcPts val="0"/>
              </a:spcBef>
            </a:pPr>
            <a:r>
              <a:rPr lang="en-US" sz="1000" b="1" dirty="0">
                <a:solidFill>
                  <a:srgbClr val="F5A623"/>
                </a:solidFill>
                <a:latin typeface="Calibri"/>
              </a:rPr>
              <a:t>WHY THIS WORKS</a:t>
            </a:r>
          </a:p>
          <a:p>
            <a:pPr algn="l">
              <a:spcBef>
                <a:spcPts val="150"/>
              </a:spcBef>
            </a:pPr>
            <a:r>
              <a:rPr lang="en-US" sz="900" b="1" dirty="0">
                <a:solidFill>
                  <a:srgbClr val="A5D6A7"/>
                </a:solidFill>
                <a:latin typeface="Calibri"/>
              </a:rPr>
              <a:t>Fast + no hints → 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highest score</a:t>
            </a:r>
          </a:p>
          <a:p>
            <a:pPr algn="l">
              <a:spcBef>
                <a:spcPts val="100"/>
              </a:spcBef>
            </a:pPr>
            <a:r>
              <a:rPr lang="en-US" sz="900" b="1" dirty="0">
                <a:solidFill>
                  <a:srgbClr val="4FC3F7"/>
                </a:solidFill>
                <a:latin typeface="Calibri"/>
              </a:rPr>
              <a:t>With hints → 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moderate score</a:t>
            </a:r>
          </a:p>
          <a:p>
            <a:pPr algn="l">
              <a:spcBef>
                <a:spcPts val="100"/>
              </a:spcBef>
            </a:pPr>
            <a:r>
              <a:rPr lang="en-US" sz="900" b="1" dirty="0">
                <a:solidFill>
                  <a:srgbClr val="F5A623"/>
                </a:solidFill>
                <a:latin typeface="Calibri"/>
              </a:rPr>
              <a:t>Slow + many hints → 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lowest score</a:t>
            </a:r>
          </a:p>
          <a:p>
            <a:pPr algn="l">
              <a:spcBef>
                <a:spcPts val="200"/>
              </a:spcBef>
            </a:pPr>
            <a:r>
              <a:rPr lang="en-US" sz="900" i="1" dirty="0">
                <a:solidFill>
                  <a:srgbClr val="B0BEC5"/>
                </a:solidFill>
                <a:latin typeface="Calibri"/>
              </a:rPr>
              <a:t>Captures behaviour, not just correctness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B5CC4"/>
          </a:solidFill>
          <a:ln w="12700">
            <a:solidFill>
              <a:srgbClr val="4B5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LEARNER MODEL  —  Data Structure &amp; Usage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754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754880" cy="32004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Learner Profile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E"/>
                </a:solidFill>
              </a:rPr>
              <a:t>▸  student_id  —  uniquely identifies the student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E"/>
                </a:solidFill>
              </a:rPr>
              <a:t>▸  current_level  —  drives question difficulty selection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04872"/>
            <a:ext cx="4754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404872"/>
            <a:ext cx="4754880" cy="320040"/>
          </a:xfrm>
          <a:prstGeom prst="rect">
            <a:avLst/>
          </a:prstGeom>
          <a:solidFill>
            <a:srgbClr val="4B5CC4"/>
          </a:solidFill>
          <a:ln w="12700">
            <a:solidFill>
              <a:srgbClr val="4B5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404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Knowledge State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752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E"/>
                </a:solidFill>
              </a:rPr>
              <a:t>▸  pattern_score  —  decides if difficulty should increase / extra practice needed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E"/>
                </a:solidFill>
              </a:rPr>
              <a:t>▸  divisibility_score  —  same logic; triggers remedial content if &lt; 50%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826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E"/>
                </a:solidFill>
              </a:rPr>
              <a:t>▸  sequence_score  —  same logic for sequence sub-topic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666744"/>
            <a:ext cx="4754880" cy="1399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666744"/>
            <a:ext cx="4754880" cy="32004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6667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Attempt Record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0142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E"/>
                </a:solidFill>
              </a:rPr>
              <a:t>▸  question_id  —  links attempts to a specific question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279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E"/>
                </a:solidFill>
              </a:rPr>
              <a:t>▸  attempts  —  count triggers hint (≥ 1) or remedial (≥ 3) upon incorrect answers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544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E"/>
                </a:solidFill>
              </a:rPr>
              <a:t>▸  correctness  —  updates topic score in Knowledge State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E"/>
                </a:solidFill>
              </a:rPr>
              <a:t>▸  time_taken  —  future use: identify slow learners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1143000"/>
            <a:ext cx="3520440" cy="356616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03520" y="1143000"/>
            <a:ext cx="352044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0" y="1143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4E"/>
                </a:solidFill>
              </a:rPr>
              <a:t>HOW DATA IS USED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0680" y="1664208"/>
            <a:ext cx="3246120" cy="530352"/>
          </a:xfrm>
          <a:prstGeom prst="rect">
            <a:avLst/>
          </a:prstGeom>
          <a:solidFill>
            <a:srgbClr val="2D3A7A"/>
          </a:solidFill>
          <a:ln w="12700">
            <a:solidFill>
              <a:srgbClr val="3D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16642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AC85A"/>
                </a:solidFill>
              </a:rPr>
              <a:t>IF  attempts ≥ 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32120" y="19019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Show Hint 1 → 2 → 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40680" y="2276856"/>
            <a:ext cx="3246120" cy="530352"/>
          </a:xfrm>
          <a:prstGeom prst="rect">
            <a:avLst/>
          </a:prstGeom>
          <a:solidFill>
            <a:srgbClr val="2D3A7A"/>
          </a:solidFill>
          <a:ln w="12700">
            <a:solidFill>
              <a:srgbClr val="3D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32120" y="22768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AC85A"/>
                </a:solidFill>
              </a:rPr>
              <a:t>IF  attempts ≥ 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32120" y="2514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Show Remedial Lesson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0680" y="2889504"/>
            <a:ext cx="3246120" cy="530352"/>
          </a:xfrm>
          <a:prstGeom prst="rect">
            <a:avLst/>
          </a:prstGeom>
          <a:solidFill>
            <a:srgbClr val="2D3A7A"/>
          </a:solidFill>
          <a:ln w="12700">
            <a:solidFill>
              <a:srgbClr val="3D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32120" y="28895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AC85A"/>
                </a:solidFill>
              </a:rPr>
              <a:t>IF  topic score &lt; 50%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32120" y="31272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Extra Practice Questions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40680" y="3502152"/>
            <a:ext cx="3246120" cy="530352"/>
          </a:xfrm>
          <a:prstGeom prst="rect">
            <a:avLst/>
          </a:prstGeom>
          <a:solidFill>
            <a:srgbClr val="2D3A7A"/>
          </a:solidFill>
          <a:ln w="12700">
            <a:solidFill>
              <a:srgbClr val="3D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32120" y="3502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AC85A"/>
                </a:solidFill>
              </a:rPr>
              <a:t>IF  topic score &gt; 80%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373989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Increase Difficulty Level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40680" y="4114800"/>
            <a:ext cx="3246120" cy="530352"/>
          </a:xfrm>
          <a:prstGeom prst="rect">
            <a:avLst/>
          </a:prstGeom>
          <a:solidFill>
            <a:srgbClr val="2D3A7A"/>
          </a:solidFill>
          <a:ln w="12700">
            <a:solidFill>
              <a:srgbClr val="3D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32120" y="41148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AC85A"/>
                </a:solidFill>
              </a:rPr>
              <a:t>IF  correctness = true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32120" y="43525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Update topic score +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REMEDIAL CONTENT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Triggered when:  attempts ≥ 3  (tracked by Attempt Record → attempts field)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4160520" cy="347472"/>
          </a:xfrm>
          <a:prstGeom prst="rect">
            <a:avLst/>
          </a:prstGeom>
          <a:solidFill>
            <a:srgbClr val="4B5CC4"/>
          </a:solidFill>
          <a:ln w="12700">
            <a:solidFill>
              <a:srgbClr val="4B5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 TAUGHT: Divisibility by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1.  Add all digits of the number.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2.  If the sum is divisible by 3,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4E"/>
                </a:solidFill>
              </a:rPr>
              <a:t>     the number is divisible by 3.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4160520" cy="347472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6916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WORKED EXAMPLE: Is 321 divisible by 3?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130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4E"/>
                </a:solidFill>
              </a:rPr>
              <a:t>3 + 2 + 1 = 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496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</a:rPr>
              <a:t>6 ÷ 3 = 2  →  Yes 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880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6 is divisible by 3, so 321 is also divisible by 3.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8503920" cy="105156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85A"/>
                </a:solidFill>
              </a:rPr>
              <a:t>PRACTICE PROBLEMS  (learner retries after remedial):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2468880" cy="548640"/>
          </a:xfrm>
          <a:prstGeom prst="rect">
            <a:avLst/>
          </a:prstGeom>
          <a:solidFill>
            <a:srgbClr val="2D3A7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</a:rPr>
              <a:t>123  →  Yes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37560" y="4160520"/>
            <a:ext cx="2468880" cy="548640"/>
          </a:xfrm>
          <a:prstGeom prst="rect">
            <a:avLst/>
          </a:prstGeom>
          <a:solidFill>
            <a:srgbClr val="2D3A7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</a:rPr>
              <a:t>245  →  No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4160520"/>
            <a:ext cx="2468880" cy="548640"/>
          </a:xfrm>
          <a:prstGeom prst="rect">
            <a:avLst/>
          </a:prstGeom>
          <a:solidFill>
            <a:srgbClr val="2D3A7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</a:rPr>
              <a:t>306  →  Yes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PEDAGOGICAL MODEL  —  Teaching Strategy &amp; Flowchart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347472" cy="347472"/>
          </a:xfrm>
          <a:prstGeom prst="ellipse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1704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</a:rPr>
              <a:t>Start Easy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4630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Begin with low-difficulty questions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92808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1956816"/>
            <a:ext cx="347472" cy="347472"/>
          </a:xfrm>
          <a:prstGeom prst="ellipse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</a:rPr>
              <a:t>Progress on Success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Correct answer → harder question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42616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4048" y="2706624"/>
            <a:ext cx="347472" cy="347472"/>
          </a:xfrm>
          <a:prstGeom prst="ellipse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670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</a:rPr>
              <a:t>Hint on Mistake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962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attempts ≥ 1 → show graded hints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392424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3456432"/>
            <a:ext cx="347472" cy="347472"/>
          </a:xfrm>
          <a:prstGeom prst="ellipse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4198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</a:rPr>
              <a:t>Remediate on Failure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712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attempts ≥ 3 → remedial lesson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142232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4048" y="4206240"/>
            <a:ext cx="347472" cy="347472"/>
          </a:xfrm>
          <a:prstGeom prst="ellipse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" y="41696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</a:rPr>
              <a:t>Continuous Update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4462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Every response updates learner model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1097280"/>
            <a:ext cx="4663440" cy="502920"/>
          </a:xfrm>
          <a:prstGeom prst="rect">
            <a:avLst/>
          </a:prstGeom>
          <a:solidFill>
            <a:srgbClr val="1A1F4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60520" y="1097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 / Teach Concept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92240" y="1600200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60520" y="1709928"/>
            <a:ext cx="4663440" cy="502920"/>
          </a:xfrm>
          <a:prstGeom prst="rect">
            <a:avLst/>
          </a:prstGeom>
          <a:solidFill>
            <a:srgbClr val="2D3A8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60520" y="17099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Ask Question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92240" y="2212848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60520" y="2322576"/>
            <a:ext cx="466344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60520" y="23225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4E"/>
                </a:solidFill>
              </a:rPr>
              <a:t>Correct?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92240" y="2825496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160520" y="2935224"/>
            <a:ext cx="46634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60520" y="29352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4E"/>
                </a:solidFill>
              </a:rPr>
              <a:t>Show Hint  (attempts ≥ 1)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92240" y="3438144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160520" y="3547872"/>
            <a:ext cx="466344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60520" y="35478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4E"/>
                </a:solidFill>
              </a:rPr>
              <a:t>Show Remedial  (attempts ≥ 3)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92240" y="4050792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160520" y="4160520"/>
            <a:ext cx="4663440" cy="502920"/>
          </a:xfrm>
          <a:prstGeom prst="rect">
            <a:avLst/>
          </a:prstGeom>
          <a:solidFill>
            <a:srgbClr val="4B5CC4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6052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Learner Model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589520" y="2322576"/>
            <a:ext cx="12344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589520" y="232257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Yes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Harder Q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DEMONSTRATION  —  End-to-End Interaction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475488"/>
          </a:xfrm>
          <a:prstGeom prst="rect">
            <a:avLst/>
          </a:prstGeom>
          <a:solidFill>
            <a:srgbClr val="2D3A7A"/>
          </a:solidFill>
          <a:ln w="12700">
            <a:solidFill>
              <a:srgbClr val="4B5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C85A"/>
                </a:solidFill>
              </a:rPr>
              <a:t>Student Question:   2,  6,  12,  20,  ___       Options: A) 28   B) 30   C) 32   D) 34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3D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169164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Attempt 1  —  WRONG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728216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6"/>
                </a:solidFill>
              </a:rPr>
              <a:t>System reads:  attempts = 1  (Attempt Record)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hint yet (rule: hints start at attempt ≥ 2). Student retries.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20370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AC85A"/>
                </a:solidFill>
              </a:rPr>
              <a:t>↳ Attempt Record updated: attempts → 1, correctness → false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532888"/>
            <a:ext cx="8503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3D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532888"/>
            <a:ext cx="169164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53288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Attempt 2  —  WRONG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569464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6"/>
                </a:solidFill>
              </a:rPr>
              <a:t>System reads:  attempts = 2  (Attempt Record)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807208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attempts ≥ 2 → Hint 1 shown: 'Look at the difference between numbers.'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044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AC85A"/>
                </a:solidFill>
              </a:rPr>
              <a:t>↳ Attempt Record updated: attempts → 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74136"/>
            <a:ext cx="8503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3D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374136"/>
            <a:ext cx="169164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37413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Attempt 3  —  WRONG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410712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6"/>
                </a:solidFill>
              </a:rPr>
              <a:t>System reads:  attempts = 3  (Attempt Record)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648456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attempts ≥ 3 → Hint 2 shown, then Remedial lesson triggered for sequences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8862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AC85A"/>
                </a:solidFill>
              </a:rPr>
              <a:t>↳ sequence_score still low → Knowledge State flags for extra practice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215384"/>
            <a:ext cx="8503920" cy="749808"/>
          </a:xfrm>
          <a:prstGeom prst="rect">
            <a:avLst/>
          </a:prstGeom>
          <a:solidFill>
            <a:srgbClr val="1A3A2A"/>
          </a:solidFill>
          <a:ln w="12700">
            <a:solidFill>
              <a:srgbClr val="3D4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4215384"/>
            <a:ext cx="169164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21538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Attempt 4  —  CORRECT  (Ans: B = 30)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4251960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6"/>
                </a:solidFill>
              </a:rPr>
              <a:t>System reads:  correctness = true  (Attempt Record)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4489704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sequence_score updated upward. If score &gt; 80% → next question harder.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03120" y="47274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AC85A"/>
                </a:solidFill>
              </a:rPr>
              <a:t>↳ Learner Profile: current_level may increase.  Path → next concept.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911</Words>
  <Application>Microsoft Office PowerPoint</Application>
  <PresentationFormat>On-screen Show (16:9)</PresentationFormat>
  <Paragraphs>161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Devanshi Khandelwal</cp:lastModifiedBy>
  <cp:revision>3</cp:revision>
  <dcterms:created xsi:type="dcterms:W3CDTF">2026-03-12T20:32:09Z</dcterms:created>
  <dcterms:modified xsi:type="dcterms:W3CDTF">2026-03-13T17:59:43Z</dcterms:modified>
</cp:coreProperties>
</file>